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BorrowNet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Smart Campus Resource Sharing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2996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CD3EB"/>
                </a:solidFill>
                <a:latin typeface="Arial"/>
              </a:rPr>
              <a:t>Review 2 – Project Review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212080" cy="329184"/>
          </a:xfrm>
          <a:prstGeom prst="roundRect">
            <a:avLst/>
          </a:prstGeom>
          <a:solidFill>
            <a:srgbClr val="2A3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5C9FF"/>
                </a:solidFill>
                <a:latin typeface="Arial"/>
              </a:rPr>
              <a:t>DATABASE SYSTEMS ENGINEERING &amp; DISTRIBUTED BACKEND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303520" cy="1234440"/>
          </a:xfrm>
          <a:prstGeom prst="roundRect">
            <a:avLst/>
          </a:prstGeom>
          <a:solidFill>
            <a:srgbClr val="121D52"/>
          </a:solidFill>
          <a:ln w="10160">
            <a:solidFill>
              <a:srgbClr val="28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794760"/>
            <a:ext cx="64008" cy="123444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959352"/>
            <a:ext cx="49377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361688"/>
            <a:ext cx="4919472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DADEF0"/>
                </a:solidFill>
                <a:latin typeface="Arial"/>
              </a:rPr>
              <a:t>Y. Mohana Priya – 2520090176
V Vaishanavi – 2520090117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0" y="1828800"/>
            <a:ext cx="594360" cy="594360"/>
          </a:xfrm>
          <a:prstGeom prst="ellipse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0" y="1325880"/>
            <a:ext cx="594360" cy="594360"/>
          </a:xfrm>
          <a:prstGeom prst="ellipse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0" y="2971800"/>
            <a:ext cx="594360" cy="594360"/>
          </a:xfrm>
          <a:prstGeom prst="ellipse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0" y="3429000"/>
            <a:ext cx="594360" cy="594360"/>
          </a:xfrm>
          <a:prstGeom prst="ellipse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61320" y="3474720"/>
            <a:ext cx="594360" cy="594360"/>
          </a:xfrm>
          <a:prstGeom prst="ellipse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8339327" y="1618488"/>
            <a:ext cx="1444753" cy="502920"/>
          </a:xfrm>
          <a:prstGeom prst="line">
            <a:avLst/>
          </a:prstGeom>
          <a:ln w="19050">
            <a:solidFill>
              <a:srgbClr val="8E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39327" y="2121408"/>
            <a:ext cx="1097281" cy="1124712"/>
          </a:xfrm>
          <a:prstGeom prst="line">
            <a:avLst/>
          </a:prstGeom>
          <a:ln w="19050">
            <a:solidFill>
              <a:srgbClr val="8E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616952" y="3246120"/>
            <a:ext cx="1819656" cy="475488"/>
          </a:xfrm>
          <a:prstGeom prst="line">
            <a:avLst/>
          </a:prstGeom>
          <a:ln w="19050">
            <a:solidFill>
              <a:srgbClr val="8E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36608" y="3246120"/>
            <a:ext cx="1417320" cy="521208"/>
          </a:xfrm>
          <a:prstGeom prst="line">
            <a:avLst/>
          </a:prstGeom>
          <a:ln w="19050">
            <a:solidFill>
              <a:srgbClr val="8E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84080" y="1618488"/>
            <a:ext cx="1069848" cy="2148840"/>
          </a:xfrm>
          <a:prstGeom prst="line">
            <a:avLst/>
          </a:prstGeom>
          <a:ln w="19050">
            <a:solidFill>
              <a:srgbClr val="8E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29400" y="507492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E1E4F5"/>
                </a:solidFill>
                <a:latin typeface="Arial"/>
              </a:rPr>
              <a:t>Share More. Spend Less. Connect Better.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9CD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Why campus resource sharing needs a structured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4924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4160520"/>
          </a:xfrm>
          <a:prstGeom prst="rect">
            <a:avLst/>
          </a:prstGeom>
          <a:solidFill>
            <a:srgbClr val="D4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49834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Current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3063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0273E"/>
                </a:solidFill>
                <a:latin typeface="Arial"/>
              </a:defRPr>
            </a:pPr>
            <a:r>
              <a:t>• Students often need resources only for a short period.</a:t>
            </a:r>
          </a:p>
          <a:p>
            <a:pPr>
              <a:spcAft>
                <a:spcPts val="500"/>
              </a:spcAft>
              <a:defRPr sz="1600">
                <a:solidFill>
                  <a:srgbClr val="20273E"/>
                </a:solidFill>
                <a:latin typeface="Arial"/>
              </a:defRPr>
            </a:pPr>
            <a:r>
              <a:t>• Buying temporary-use items can be costly and inefficient.</a:t>
            </a:r>
          </a:p>
          <a:p>
            <a:pPr>
              <a:spcAft>
                <a:spcPts val="500"/>
              </a:spcAft>
              <a:defRPr sz="1600">
                <a:solidFill>
                  <a:srgbClr val="20273E"/>
                </a:solidFill>
                <a:latin typeface="Arial"/>
              </a:defRPr>
            </a:pPr>
            <a:r>
              <a:t>• Sharing is usually handled through friends or messaging groups.</a:t>
            </a:r>
          </a:p>
          <a:p>
            <a:pPr>
              <a:spcAft>
                <a:spcPts val="500"/>
              </a:spcAft>
              <a:defRPr sz="1600">
                <a:solidFill>
                  <a:srgbClr val="20273E"/>
                </a:solidFill>
                <a:latin typeface="Arial"/>
              </a:defRPr>
            </a:pPr>
            <a:r>
              <a:t>• Availability, reservations and return dates are difficult to track.</a:t>
            </a:r>
          </a:p>
          <a:p>
            <a:pPr>
              <a:spcAft>
                <a:spcPts val="500"/>
              </a:spcAft>
              <a:defRPr sz="1600">
                <a:solidFill>
                  <a:srgbClr val="20273E"/>
                </a:solidFill>
                <a:latin typeface="Arial"/>
              </a:defRPr>
            </a:pPr>
            <a:r>
              <a:t>• There is no consistent trust, condition or accountability mechanism.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5780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64008" cy="416052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673351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Existing System → Limitations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828800"/>
            <a:ext cx="4572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938528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91440"/>
                </a:solidFill>
                <a:latin typeface="Arial"/>
              </a:rPr>
              <a:t>Friends /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93852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Informal communication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70048"/>
            <a:ext cx="4572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779776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91440"/>
                </a:solidFill>
                <a:latin typeface="Arial"/>
              </a:rPr>
              <a:t>Manual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77977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No central record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511296"/>
            <a:ext cx="4572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62102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91440"/>
                </a:solidFill>
                <a:latin typeface="Arial"/>
              </a:rPr>
              <a:t>No Reservation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621024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Overlapping requests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352544"/>
            <a:ext cx="45720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446227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91440"/>
                </a:solidFill>
                <a:latin typeface="Arial"/>
              </a:rPr>
              <a:t>Limited Accountability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4622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Return / condition issues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What BorrowNet is designed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160020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Structured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3044952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Enable students to list, search and borrow campus resources.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647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6C43E6"/>
                </a:solidFill>
                <a:latin typeface="Arial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600200"/>
            <a:ext cx="64008" cy="160020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76479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167128"/>
            <a:ext cx="3044952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Maintain accurate item availability and reservation periods.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647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6C43E6"/>
                </a:solidFill>
                <a:latin typeface="Arial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60020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600200"/>
            <a:ext cx="64008" cy="160020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176479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Conflict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167128"/>
            <a:ext cx="3044952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Prevent overlapping reservations for the same item.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17647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6C43E6"/>
                </a:solidFill>
                <a:latin typeface="Arial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661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566160"/>
            <a:ext cx="64008" cy="1600200"/>
          </a:xfrm>
          <a:prstGeom prst="rect">
            <a:avLst/>
          </a:prstGeom>
          <a:solidFill>
            <a:srgbClr val="D4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73075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Accountability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133087"/>
            <a:ext cx="3044952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Track returns, item condition, ratings and trust.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7307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6C43E6"/>
                </a:solidFill>
                <a:latin typeface="Arial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5661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3566160"/>
            <a:ext cx="64008" cy="160020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373075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Secure 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4133087"/>
            <a:ext cx="3044952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Use authentication, authorization and transaction handling.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7307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6C43E6"/>
                </a:solidFill>
                <a:latin typeface="Arial"/>
              </a:rP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566160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20" y="3566160"/>
            <a:ext cx="64008" cy="160020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373075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4133087"/>
            <a:ext cx="3044952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Provide notifications and rule-based penalties.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37307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6C43E6"/>
                </a:solidFill>
                <a:latin typeface="Arial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Complete borrowing lifecycle with backend-controlled business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051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19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C43E6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38528"/>
            <a:ext cx="896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91440"/>
                </a:solidFill>
                <a:latin typeface="Arial"/>
              </a:rPr>
              <a:t>Register / Login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5919" y="1993392"/>
            <a:ext cx="210312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56231" y="1600200"/>
            <a:ext cx="1051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9384" y="1719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C43E6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9384" y="1938528"/>
            <a:ext cx="896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91440"/>
                </a:solidFill>
                <a:latin typeface="Arial"/>
              </a:rPr>
              <a:t>List or Search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07791" y="1993392"/>
            <a:ext cx="210312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18103" y="1600200"/>
            <a:ext cx="1051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1256" y="1719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C43E6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1938528"/>
            <a:ext cx="896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91440"/>
                </a:solidFill>
                <a:latin typeface="Arial"/>
              </a:rPr>
              <a:t>Check Availability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9663" y="1993392"/>
            <a:ext cx="210312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79976" y="1600200"/>
            <a:ext cx="1051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1719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C43E6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1938528"/>
            <a:ext cx="896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91440"/>
                </a:solidFill>
                <a:latin typeface="Arial"/>
              </a:rPr>
              <a:t>Borrow Request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31536" y="1993392"/>
            <a:ext cx="210312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641848" y="1600200"/>
            <a:ext cx="1051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1719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C43E6"/>
                </a:solidFill>
                <a:latin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1938528"/>
            <a:ext cx="896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91440"/>
                </a:solidFill>
                <a:latin typeface="Arial"/>
              </a:rPr>
              <a:t>Owner Approval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93408" y="1993392"/>
            <a:ext cx="210312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903720" y="1600200"/>
            <a:ext cx="1051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1719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C43E6"/>
                </a:solidFill>
                <a:latin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1938528"/>
            <a:ext cx="896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91440"/>
                </a:solidFill>
                <a:latin typeface="Arial"/>
              </a:rPr>
              <a:t>Reservation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55279" y="1993392"/>
            <a:ext cx="210313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65592" y="1600200"/>
            <a:ext cx="1051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4" y="1719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C43E6"/>
                </a:solidFill>
                <a:latin typeface="Arial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1938528"/>
            <a:ext cx="896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91440"/>
                </a:solidFill>
                <a:latin typeface="Arial"/>
              </a:rPr>
              <a:t>Borrow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17152" y="1993392"/>
            <a:ext cx="210311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27464" y="1600200"/>
            <a:ext cx="1051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0616" y="1719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C43E6"/>
                </a:solidFill>
                <a:latin typeface="Arial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6" y="1938528"/>
            <a:ext cx="896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91440"/>
                </a:solidFill>
                <a:latin typeface="Arial"/>
              </a:rPr>
              <a:t>Return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479024" y="1993392"/>
            <a:ext cx="210312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689336" y="1600200"/>
            <a:ext cx="1051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62488" y="171907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C43E6"/>
                </a:solidFill>
                <a:latin typeface="Arial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62488" y="1938528"/>
            <a:ext cx="896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91440"/>
                </a:solidFill>
                <a:latin typeface="Arial"/>
              </a:rPr>
              <a:t>Condition + Rating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2880360"/>
            <a:ext cx="347472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2880360"/>
            <a:ext cx="64008" cy="2331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" y="30449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Smart Backend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" y="3447288"/>
            <a:ext cx="3090672" cy="1618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Conflict detection
Trust score calculation
Penalty rules
Transaction management
Notifications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70832" y="2880360"/>
            <a:ext cx="347472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70832" y="2880360"/>
            <a:ext cx="64008" cy="233172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30449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Student Functions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3447288"/>
            <a:ext cx="3090672" cy="1618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Create profile
List / search items
Request &amp; reserve
Track requests
Return &amp; rate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0" y="2880360"/>
            <a:ext cx="347472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2880360"/>
            <a:ext cx="64008" cy="233172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47888" y="30449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Admin Functions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3447288"/>
            <a:ext cx="3090672" cy="1618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Moderate users/items
Review reports
Handle disputes
Monitor activity
Maintain accountability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Client–server flow for BorrowNet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2084831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C43E6"/>
                </a:solidFill>
                <a:latin typeface="Arial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450592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C657D"/>
                </a:solidFill>
                <a:latin typeface="Arial"/>
              </a:rPr>
              <a:t>Student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64792" y="2395728"/>
            <a:ext cx="320040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84832" y="182880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9696" y="2084831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C43E6"/>
                </a:solidFill>
                <a:latin typeface="Arial"/>
              </a:rPr>
              <a:t>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2450592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C657D"/>
                </a:solidFill>
                <a:latin typeface="Arial"/>
              </a:rPr>
              <a:t>Frontend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38144" y="2395728"/>
            <a:ext cx="320040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58184" y="182880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2084831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C43E6"/>
                </a:solidFill>
                <a:latin typeface="Arial"/>
              </a:rPr>
              <a:t>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6" y="2450592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C657D"/>
                </a:solidFill>
                <a:latin typeface="Arial"/>
              </a:rPr>
              <a:t>Request layer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11496" y="2395728"/>
            <a:ext cx="320040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31536" y="1828800"/>
            <a:ext cx="1353312" cy="1143000"/>
          </a:xfrm>
          <a:prstGeom prst="roundRect">
            <a:avLst/>
          </a:prstGeom>
          <a:solidFill>
            <a:srgbClr val="121D52"/>
          </a:solidFill>
          <a:ln>
            <a:solidFill>
              <a:srgbClr val="6C4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084831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SPRING BOOT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2450592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DCE1F0"/>
                </a:solidFill>
                <a:latin typeface="Arial"/>
              </a:rPr>
              <a:t>Backend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84848" y="2395728"/>
            <a:ext cx="320040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04888" y="1828800"/>
            <a:ext cx="1353312" cy="1143000"/>
          </a:xfrm>
          <a:prstGeom prst="roundRect">
            <a:avLst/>
          </a:prstGeom>
          <a:solidFill>
            <a:srgbClr val="121D52"/>
          </a:solidFill>
          <a:ln>
            <a:solidFill>
              <a:srgbClr val="6C4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9752" y="2084831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BUSINESS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450592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DCE1F0"/>
                </a:solidFill>
                <a:latin typeface="Arial"/>
              </a:rPr>
              <a:t>Rules + Auth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58200" y="2395728"/>
            <a:ext cx="320040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78240" y="182880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33104" y="2084831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C43E6"/>
                </a:solidFill>
                <a:latin typeface="Arial"/>
              </a:rPr>
              <a:t>MYSQL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2450592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C657D"/>
                </a:solidFill>
                <a:latin typeface="Arial"/>
              </a:rPr>
              <a:t>Persistent data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131552" y="2395728"/>
            <a:ext cx="320040" cy="0"/>
          </a:xfrm>
          <a:prstGeom prst="line">
            <a:avLst/>
          </a:prstGeom>
          <a:ln w="25400">
            <a:solidFill>
              <a:srgbClr val="6C4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451592" y="1828800"/>
            <a:ext cx="135331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06456" y="2084831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C43E6"/>
                </a:solidFill>
                <a:latin typeface="Arial"/>
              </a:rPr>
              <a:t>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4744" y="2450592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C657D"/>
                </a:solidFill>
                <a:latin typeface="Arial"/>
              </a:rPr>
              <a:t>Notifications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703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3703320"/>
            <a:ext cx="64008" cy="14173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3867911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Security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4270248"/>
            <a:ext cx="3044952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JWT authentication + role-based authorization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3703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3703320"/>
            <a:ext cx="64008" cy="141732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0288" y="3867911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Business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4270248"/>
            <a:ext cx="3044952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Availability, reservation conflicts, trust and penalties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3703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92440" y="3703320"/>
            <a:ext cx="64008" cy="141732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93608" y="3867911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Data 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8" y="4270248"/>
            <a:ext cx="3044952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Users, items, requests, reservations and transactions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Modules /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Core modules planned for the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5603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64008" cy="169164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190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21408"/>
            <a:ext cx="217627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Register, login, JWT,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5603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554480"/>
            <a:ext cx="64008" cy="169164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190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Item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121408"/>
            <a:ext cx="217627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List, edit, search, categories,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554480"/>
            <a:ext cx="25603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554480"/>
            <a:ext cx="64008" cy="169164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17190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Borrow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121408"/>
            <a:ext cx="217627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Create, approve, reject, track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1554480"/>
            <a:ext cx="25603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19" y="1554480"/>
            <a:ext cx="64008" cy="1691640"/>
          </a:xfrm>
          <a:prstGeom prst="rect">
            <a:avLst/>
          </a:prstGeom>
          <a:solidFill>
            <a:srgbClr val="D4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7190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Reservation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121408"/>
            <a:ext cx="217627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Date validation and conflict prevention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11880"/>
            <a:ext cx="25603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11880"/>
            <a:ext cx="64008" cy="169164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7764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Transaction &amp;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78808"/>
            <a:ext cx="217627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Borrow, return, condition,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611880"/>
            <a:ext cx="25603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611880"/>
            <a:ext cx="64008" cy="169164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37764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Trust &amp; Penalty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4178808"/>
            <a:ext cx="217627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Ratings, trust score, late-return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3611880"/>
            <a:ext cx="25603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59" y="3611880"/>
            <a:ext cx="64008" cy="169164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7" y="37764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7" y="4178808"/>
            <a:ext cx="217627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Request, approval, reminder, return alerts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19" y="3611880"/>
            <a:ext cx="256032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19" y="3611880"/>
            <a:ext cx="64008" cy="1691640"/>
          </a:xfrm>
          <a:prstGeom prst="rect">
            <a:avLst/>
          </a:prstGeom>
          <a:solidFill>
            <a:srgbClr val="D4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0888" y="37764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8" y="4178808"/>
            <a:ext cx="217627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Moderation, reports and dispute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Frontend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Planned user experience and 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_clean_modern_ui_ux_mockup_collage_for_a_web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1417320"/>
            <a:ext cx="7338059" cy="4892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508760"/>
            <a:ext cx="33375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75320" y="1508760"/>
            <a:ext cx="64008" cy="100584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673351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Home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6488" y="2075688"/>
            <a:ext cx="29535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Project introduction, search and calls to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697480"/>
            <a:ext cx="33375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2697480"/>
            <a:ext cx="64008" cy="100584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286207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Login / Registration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3264408"/>
            <a:ext cx="29535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Secure entry point for campus users.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886200"/>
            <a:ext cx="33375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3886200"/>
            <a:ext cx="64008" cy="100584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4050791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4453128"/>
            <a:ext cx="29535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Borrow request and item-listing forms.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5074920"/>
            <a:ext cx="33375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5074920"/>
            <a:ext cx="64008" cy="1005840"/>
          </a:xfrm>
          <a:prstGeom prst="rect">
            <a:avLst/>
          </a:prstGeom>
          <a:solidFill>
            <a:srgbClr val="D4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523951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5641848"/>
            <a:ext cx="29535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Requests, listings, notifications and trust score.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6236208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C657D"/>
                </a:solidFill>
                <a:latin typeface="Arial"/>
              </a:rPr>
              <a:t>UI prototype screens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Frontend Implementation –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Prototype screens prepared for Review 2; final implementation will be connected to backend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1481328"/>
            <a:ext cx="5495544" cy="2203704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054" y="1508760"/>
            <a:ext cx="3226410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401568"/>
            <a:ext cx="5440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C43E6"/>
                </a:solidFill>
                <a:latin typeface="Arial"/>
              </a:rPr>
              <a:t>Home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481328"/>
            <a:ext cx="5495544" cy="2203704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in___Regi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054" y="1508760"/>
            <a:ext cx="322641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3401568"/>
            <a:ext cx="5440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C43E6"/>
                </a:solidFill>
                <a:latin typeface="Arial"/>
              </a:rPr>
              <a:t>Login / Registration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3858768"/>
            <a:ext cx="5495544" cy="2203704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054" y="3886200"/>
            <a:ext cx="3226410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779007"/>
            <a:ext cx="5440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C43E6"/>
                </a:solidFill>
                <a:latin typeface="Arial"/>
              </a:rPr>
              <a:t>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3858768"/>
            <a:ext cx="5495544" cy="2203704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rrow_Request_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054" y="3886200"/>
            <a:ext cx="3226410" cy="2148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0" y="5779007"/>
            <a:ext cx="5440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C43E6"/>
                </a:solidFill>
                <a:latin typeface="Arial"/>
              </a:rPr>
              <a:t>Borrow Request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Relational model supporting the complete borrowing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578608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64008" cy="155448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73351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75688"/>
            <a:ext cx="219456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user_id PK, name, email, role, trust_score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578608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64008" cy="155448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673351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075688"/>
            <a:ext cx="219456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item_id PK, owner_id FK, category_id FK, condition, availability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2578608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64008" cy="155448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1673351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075688"/>
            <a:ext cx="219456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category_id PK, category_name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508760"/>
            <a:ext cx="2578608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508760"/>
            <a:ext cx="64008" cy="1554480"/>
          </a:xfrm>
          <a:prstGeom prst="rect">
            <a:avLst/>
          </a:prstGeom>
          <a:solidFill>
            <a:srgbClr val="D4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673351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BORROW_REQUEST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075688"/>
            <a:ext cx="219456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request_id PK, item_id FK, borrower_id FK, owner_id FK,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29000"/>
            <a:ext cx="2578608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29000"/>
            <a:ext cx="64008" cy="155448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59359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RESERVATION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995928"/>
            <a:ext cx="219456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reservation_id PK, request_id FK, item_id FK, dates,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429000"/>
            <a:ext cx="2578608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3429000"/>
            <a:ext cx="64008" cy="155448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359359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TRANSACTION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3995928"/>
            <a:ext cx="219456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transaction_id PK, request_id FK, type, status, 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429000"/>
            <a:ext cx="2578608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429000"/>
            <a:ext cx="64008" cy="155448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7" y="359359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RATING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3995928"/>
            <a:ext cx="219456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rating_id PK, item_id FK, rater_id FK, rating,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429000"/>
            <a:ext cx="2578608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3429000"/>
            <a:ext cx="64008" cy="1554480"/>
          </a:xfrm>
          <a:prstGeom prst="rect">
            <a:avLst/>
          </a:prstGeom>
          <a:solidFill>
            <a:srgbClr val="D4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5168" y="359359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NOTIFICATION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3995928"/>
            <a:ext cx="219456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notification_id PK, user_id FK, type, message, is_read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5321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C657D"/>
                </a:solidFill>
                <a:latin typeface="Arial"/>
              </a:rPr>
              <a:t>Additional entities: ITEM_IMAGE and PENALTY support images and accountability records.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Entity–Relationship model for BorrowNet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11365992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clean_diagram_infographic_on_a_whit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865" y="1444752"/>
            <a:ext cx="7475220" cy="4983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Database Tables / Schema &amp; Sample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Illustrative records for prototype/testing; final values will come from the implemented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67208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325880"/>
                <a:gridCol w="2057400"/>
                <a:gridCol w="1920240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45720" marR="45720">
                    <a:solidFill>
                      <a:srgbClr val="121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PRIMARY KEY</a:t>
                      </a:r>
                    </a:p>
                  </a:txBody>
                  <a:tcPr marL="45720" marR="45720">
                    <a:solidFill>
                      <a:srgbClr val="121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IMPORTANT FOREIGN KEYS</a:t>
                      </a:r>
                    </a:p>
                  </a:txBody>
                  <a:tcPr marL="45720" marR="45720">
                    <a:solidFill>
                      <a:srgbClr val="121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45720" marR="45720">
                    <a:solidFill>
                      <a:srgbClr val="121D5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USER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user_id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User identity, role and trust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item_id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owner_id, category_id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Shared resource details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BORROW_REQUEST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request_id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item_id, borrower_id, owner_id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Borrow workflow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RESERVATION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reservation_id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request_id, item_id, borrower_id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Reserved date range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TRANSACTION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transaction_id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request_id, item_id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20273E"/>
                          </a:solidFill>
                          <a:latin typeface="Arial"/>
                        </a:rPr>
                        <a:t>Borrow / return history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417320"/>
            <a:ext cx="41605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417320"/>
            <a:ext cx="64008" cy="114300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581912"/>
            <a:ext cx="37947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USER –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1984248"/>
            <a:ext cx="377647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252001 | Vaishanavi | student | trust 4.8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743200"/>
            <a:ext cx="41605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2743200"/>
            <a:ext cx="64008" cy="114300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907792"/>
            <a:ext cx="37947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ITEM – 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3310128"/>
            <a:ext cx="377647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101 | Scientific Calculator | available | owner 252001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069080"/>
            <a:ext cx="41605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4069080"/>
            <a:ext cx="64008" cy="114300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4233672"/>
            <a:ext cx="37947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BORROW_REQUEST – 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4636008"/>
            <a:ext cx="377647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5001 | item 101 | borrower 2520090176 | pending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5394960"/>
            <a:ext cx="416052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5394960"/>
            <a:ext cx="64008" cy="777240"/>
          </a:xfrm>
          <a:prstGeom prst="rect">
            <a:avLst/>
          </a:prstGeom>
          <a:solidFill>
            <a:srgbClr val="D4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5559552"/>
            <a:ext cx="37947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RESERVATION – 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5961888"/>
            <a:ext cx="3776472" cy="640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7001 | item 101 | 10–12 May | 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Current Progress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Review 2 status — show evidence, and clearly separate prototype work from completed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9496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438912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Current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0" b="0">
                <a:solidFill>
                  <a:srgbClr val="20273E"/>
                </a:solidFill>
                <a:latin typeface="Arial"/>
              </a:rPr>
              <a:t>✓ Project abstract and Review 1 documentation prepared.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0" b="0">
                <a:solidFill>
                  <a:srgbClr val="20273E"/>
                </a:solidFill>
                <a:latin typeface="Arial"/>
              </a:rPr>
              <a:t>✓ Frontend UI prototype prepared: home, login, dashboard, browse, details and request screens.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0" b="0">
                <a:solidFill>
                  <a:srgbClr val="20273E"/>
                </a:solidFill>
                <a:latin typeface="Arial"/>
              </a:rPr>
              <a:t>✓ System architecture and borrowing lifecycle defined.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0" b="0">
                <a:solidFill>
                  <a:srgbClr val="20273E"/>
                </a:solidFill>
                <a:latin typeface="Arial"/>
              </a:rPr>
              <a:t>✓ ER diagram and relational schema designed.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0" b="0">
                <a:solidFill>
                  <a:srgbClr val="20273E"/>
                </a:solidFill>
                <a:latin typeface="Arial"/>
              </a:rPr>
              <a:t>✓ Sample records prepared for database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0" b="0">
                <a:solidFill>
                  <a:srgbClr val="20273E"/>
                </a:solidFill>
                <a:latin typeface="Arial"/>
              </a:rPr>
              <a:t>✓ Backend APIs and database integration are the next implementation stage.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08760"/>
            <a:ext cx="530352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508760"/>
            <a:ext cx="64008" cy="4389120"/>
          </a:xfrm>
          <a:prstGeom prst="rect">
            <a:avLst/>
          </a:prstGeom>
          <a:solidFill>
            <a:srgbClr val="D4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1673351"/>
            <a:ext cx="49377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Challenges /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57400"/>
            <a:ext cx="47091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0" b="0">
                <a:solidFill>
                  <a:srgbClr val="20273E"/>
                </a:solidFill>
                <a:latin typeface="Arial"/>
              </a:rPr>
              <a:t>• Preventing two users from reserving the same item for overlapping dates.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43200"/>
            <a:ext cx="47091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0" b="0">
                <a:solidFill>
                  <a:srgbClr val="20273E"/>
                </a:solidFill>
                <a:latin typeface="Arial"/>
              </a:rPr>
              <a:t>• Keeping item availability consistent after approval, borrowing and return.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29000"/>
            <a:ext cx="47091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0" b="0">
                <a:solidFill>
                  <a:srgbClr val="20273E"/>
                </a:solidFill>
                <a:latin typeface="Arial"/>
              </a:rPr>
              <a:t>• Implementing secure role-based access for students and admins.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114800"/>
            <a:ext cx="47091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0" b="0">
                <a:solidFill>
                  <a:srgbClr val="20273E"/>
                </a:solidFill>
                <a:latin typeface="Arial"/>
              </a:rPr>
              <a:t>• Handling late returns, penalties and item-condition changes.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800600"/>
            <a:ext cx="47091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0" b="0">
                <a:solidFill>
                  <a:srgbClr val="20273E"/>
                </a:solidFill>
                <a:latin typeface="Arial"/>
              </a:rPr>
              <a:t>• Testing edge cases and maintaining consistent transaction records.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Planned extensions after the core backend is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4290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64008" cy="169164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190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21408"/>
            <a:ext cx="304495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Provide Android/iOS access for faster campus sharing.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290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64008" cy="169164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190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QR Pickup &amp;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21408"/>
            <a:ext cx="304495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Scan an item to confirm handover and return.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54480"/>
            <a:ext cx="34290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54480"/>
            <a:ext cx="64008" cy="169164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7190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AI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121408"/>
            <a:ext cx="304495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Suggest useful resources based on user needs and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11880"/>
            <a:ext cx="34290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611880"/>
            <a:ext cx="64008" cy="1691640"/>
          </a:xfrm>
          <a:prstGeom prst="rect">
            <a:avLst/>
          </a:prstGeom>
          <a:solidFill>
            <a:srgbClr val="D4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7764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Demand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178808"/>
            <a:ext cx="304495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Identify frequently requested resources.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11880"/>
            <a:ext cx="34290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611880"/>
            <a:ext cx="64008" cy="169164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7764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Real-Time 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178808"/>
            <a:ext cx="304495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Push reminders for approvals, due dates and returns.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611880"/>
            <a:ext cx="342900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3611880"/>
            <a:ext cx="64008" cy="169164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37764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178808"/>
            <a:ext cx="3044952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Track sharing activity, popular items and system usage.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91440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C657D"/>
                </a:solidFill>
                <a:latin typeface="Arial"/>
              </a:rPr>
              <a:t>BorrowNet combines peer-to-peer sharing with practical backend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77240" cy="4572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091440"/>
                </a:solidFill>
                <a:latin typeface="Arial"/>
              </a:rPr>
              <a:t>BorrowNet provides a structured way for students to share resources without unnecessary purchases.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24688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64008" cy="182880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9077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Affordable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310128"/>
            <a:ext cx="2084832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Use existing campus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743200"/>
            <a:ext cx="24688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743200"/>
            <a:ext cx="64008" cy="1828800"/>
          </a:xfrm>
          <a:prstGeom prst="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9077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Transparent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310128"/>
            <a:ext cx="2084832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Track requests, reservations and returns.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24688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743200"/>
            <a:ext cx="64008" cy="1828800"/>
          </a:xfrm>
          <a:prstGeom prst="rect">
            <a:avLst/>
          </a:prstGeom>
          <a:solidFill>
            <a:srgbClr val="249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9077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Accountable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310128"/>
            <a:ext cx="2084832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Use ratings, trust and penalties.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743200"/>
            <a:ext cx="24688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743200"/>
            <a:ext cx="64008" cy="1828800"/>
          </a:xfrm>
          <a:prstGeom prst="rect">
            <a:avLst/>
          </a:prstGeom>
          <a:solidFill>
            <a:srgbClr val="D4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29077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91440"/>
                </a:solidFill>
                <a:latin typeface="Arial"/>
              </a:rPr>
              <a:t>Technical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3310128"/>
            <a:ext cx="2084832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657D"/>
                </a:solidFill>
                <a:latin typeface="Arial"/>
              </a:rPr>
              <a:t>Demonstrate APIs, database and backend rules.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6C43E6"/>
                </a:solidFill>
                <a:latin typeface="Arial"/>
              </a:rPr>
              <a:t>Core idea: Share More. Spend Less. Connect Better.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BorrowNet – Smart Campus Resource Sharing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2D8EE"/>
                </a:solidFill>
                <a:latin typeface="Arial"/>
              </a:rPr>
              <a:t>Share More. Spend Less. Connect Better.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5303520" cy="1143000"/>
          </a:xfrm>
          <a:prstGeom prst="roundRect">
            <a:avLst/>
          </a:prstGeom>
          <a:solidFill>
            <a:srgbClr val="121D52"/>
          </a:solidFill>
          <a:ln w="10160">
            <a:solidFill>
              <a:srgbClr val="28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794760"/>
            <a:ext cx="64008" cy="1143000"/>
          </a:xfrm>
          <a:prstGeom prst="rect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959352"/>
            <a:ext cx="49377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361688"/>
            <a:ext cx="491947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DADEF0"/>
                </a:solidFill>
                <a:latin typeface="Arial"/>
              </a:rPr>
              <a:t>Y. Mohana Priya – 2520090176
V Vaishanavi – 2520090117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1031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1E4F5"/>
                </a:solidFill>
                <a:latin typeface="Arial"/>
              </a:rPr>
              <a:t>Questions?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0" y="3200400"/>
            <a:ext cx="530352" cy="530352"/>
          </a:xfrm>
          <a:prstGeom prst="ellipse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46920" y="2788920"/>
            <a:ext cx="530352" cy="530352"/>
          </a:xfrm>
          <a:prstGeom prst="ellipse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24160" y="3794760"/>
            <a:ext cx="530352" cy="530352"/>
          </a:xfrm>
          <a:prstGeom prst="ellipse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6840" y="4343400"/>
            <a:ext cx="530352" cy="530352"/>
          </a:xfrm>
          <a:prstGeom prst="ellipse">
            <a:avLst/>
          </a:prstGeom>
          <a:solidFill>
            <a:srgbClr val="6C4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8494776" y="3054096"/>
            <a:ext cx="1152144" cy="411480"/>
          </a:xfrm>
          <a:prstGeom prst="line">
            <a:avLst/>
          </a:prstGeom>
          <a:ln w="19050">
            <a:solidFill>
              <a:srgbClr val="8E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12096" y="3054096"/>
            <a:ext cx="512064" cy="740664"/>
          </a:xfrm>
          <a:prstGeom prst="line">
            <a:avLst/>
          </a:prstGeom>
          <a:ln w="19050">
            <a:solidFill>
              <a:srgbClr val="8E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272016" y="4059936"/>
            <a:ext cx="1152144" cy="283464"/>
          </a:xfrm>
          <a:prstGeom prst="line">
            <a:avLst/>
          </a:prstGeom>
          <a:ln w="19050">
            <a:solidFill>
              <a:srgbClr val="8E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94776" y="3611880"/>
            <a:ext cx="512064" cy="731520"/>
          </a:xfrm>
          <a:prstGeom prst="line">
            <a:avLst/>
          </a:prstGeom>
          <a:ln w="19050">
            <a:solidFill>
              <a:srgbClr val="8E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9C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